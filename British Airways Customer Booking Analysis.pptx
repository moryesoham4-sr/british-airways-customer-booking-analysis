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802832-1398-45BD-8735-868879CF04A6}">
  <a:tblStyle styleId="{61802832-1398-45BD-8735-868879CF04A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UrbanistMedium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15602" y="1927026"/>
            <a:ext cx="6360795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British Airways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Booking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67050" y="3626048"/>
            <a:ext cx="6057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Science Insights &amp; Behavior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67050" y="4407098"/>
            <a:ext cx="605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PREPARED FOR STRATEGY OPTIMIZATION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52500" y="-9525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604962" y="2700337"/>
            <a:ext cx="8982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CHAPTER 01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80410" y="3224212"/>
            <a:ext cx="943117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Performance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" name="Google Shape;101;p15"/>
          <p:cNvGraphicFramePr/>
          <p:nvPr/>
        </p:nvGraphicFramePr>
        <p:xfrm>
          <a:off x="2800350" y="2205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{61802832-1398-45BD-8735-868879CF04A6}</a:tableStyleId>
              </a:tblPr>
              <a:tblGrid>
                <a:gridCol w="2609850"/>
                <a:gridCol w="1905000"/>
                <a:gridCol w="2076450"/>
              </a:tblGrid>
              <a:tr h="70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Observed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Benchmark / 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Total Sample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50,000 Records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 Confidence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Completion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14.96%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Target: 18.00%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Avg Purchase Lead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84.9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Plan Window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Avg Length of Stay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23.0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Holiday/Business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15"/>
          <p:cNvSpPr/>
          <p:nvPr/>
        </p:nvSpPr>
        <p:spPr>
          <a:xfrm>
            <a:off x="2800350" y="3590925"/>
            <a:ext cx="26098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410200" y="3590925"/>
            <a:ext cx="190500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7315200" y="3590925"/>
            <a:ext cx="20764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2800350" y="4295775"/>
            <a:ext cx="26098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5410200" y="4295775"/>
            <a:ext cx="190500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7315200" y="4295775"/>
            <a:ext cx="20764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2800350" y="5000625"/>
            <a:ext cx="26098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410200" y="5000625"/>
            <a:ext cx="190500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315200" y="5000625"/>
            <a:ext cx="20764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2800350" y="5705475"/>
            <a:ext cx="26098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410200" y="5705475"/>
            <a:ext cx="190500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7315200" y="5705475"/>
            <a:ext cx="20764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Executive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Summary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7400"/>
            <a:ext cx="11049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6334125" y="265747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Channel Dominance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34125" y="3143250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Internet channel accounts for the vast majority of volume. Mobile represents 11% but is the fastest growing segment.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677025" y="448627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15125" y="4486275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Internet Volume: 44,500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677025" y="4800600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15125" y="48006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Mobile Volume: 5,500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Sales Channel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Composition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Conversion by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Channel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7900"/>
            <a:ext cx="35559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247900"/>
            <a:ext cx="35559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47900"/>
            <a:ext cx="3556099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8425" y="2628900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882651" y="3295650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Extra Baggage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52500" y="3914775"/>
            <a:ext cx="2793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65%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952500" y="4772025"/>
            <a:ext cx="2793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Highest Demand Add-on</a:t>
            </a:r>
            <a:endParaRPr/>
          </a:p>
        </p:txBody>
      </p:sp>
      <p:pic>
        <p:nvPicPr>
          <p:cNvPr descr="image.png" id="147" name="Google Shape;14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6301" y="262890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4629101" y="3295650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In-flight Meals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4698950" y="3914775"/>
            <a:ext cx="2793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42%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4698950" y="4772025"/>
            <a:ext cx="2793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Consistent Uptake</a:t>
            </a:r>
            <a:endParaRPr/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2900" y="262890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8375548" y="3295650"/>
            <a:ext cx="293380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Preferred Seat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445400" y="3914775"/>
            <a:ext cx="27940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29%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445400" y="4772025"/>
            <a:ext cx="2794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Upsell Opportunity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Ancillary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Service Demand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191000"/>
            <a:ext cx="495300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762000" y="251460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Top markets by volume include Australia, Malaysia, and South Korea.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62000" y="335280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APAC markets show higher propensity for ancillary additions but lower lead-time sensitivity.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52500" y="4381500"/>
            <a:ext cx="4572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Strategic Insight: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Marketing budget should be localized to top APAC origin cities to capture high-value long-haul travelers.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762000" y="762000"/>
            <a:ext cx="52006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Global Origin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Dynamics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47900"/>
            <a:ext cx="10668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762000" y="5905500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Conversion probability peaks for bookings made between 60 to 90 days in advance.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Lead Time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vs. Conversion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1562" y="1819275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6334125" y="23336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Bridging the Gap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334125" y="2819400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With an 11% volume share, mobile is a critical touchpoint. Current data suggests travelers research on mobile but switch to web for completion.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334125" y="397192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Focus Areas:</a:t>
            </a:r>
            <a:endParaRPr/>
          </a:p>
        </p:txBody>
      </p:sp>
      <p:pic>
        <p:nvPicPr>
          <p:cNvPr descr="image.png" id="184" name="Google Shape;18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762" y="1895475"/>
            <a:ext cx="413385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6677025" y="4495800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715125" y="44958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Streamlined checkout process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677025" y="481012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715125" y="4810125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One-click ancillary selection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677025" y="5124450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715125" y="51244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Localized payment methods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Optimizing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Mobile UX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571500" y="3019425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14.96%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4543425"/>
            <a:ext cx="5286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Current Completion Rate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6334125" y="27241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Revenue Projection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6334125" y="3209925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Increasing completion rate by just 2% through targeted bundling of baggage and preferred seating could result in a significant uplift in annual revenue.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334125" y="4362450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 shows customers who select 2+ ancillaries are 40% more likely to complete their booking.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Growth Opportunity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501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0041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958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1428750" y="2005012"/>
            <a:ext cx="1049131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Bundled Ancillary Offerings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1428750" y="2490787"/>
            <a:ext cx="9991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Introduce "Travel Plus" packages that include baggage and seat selection at a 15% discount vs. individual items.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1428750" y="3300412"/>
            <a:ext cx="971121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Dynamic Pricing for Early Bookers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1428750" y="3786187"/>
            <a:ext cx="92487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Leverage the 85-day lead time window with sliding-scale pricing to incentivize immediate conversion.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1428750" y="4595812"/>
            <a:ext cx="107013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Mobile Funnel Re-Engineering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1428750" y="5081587"/>
            <a:ext cx="10191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Audit and optimize the mobile path to purchase, focusing on reducing friction in origin markets with high mobile usage.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Strategic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Roadmap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3375660" y="1571625"/>
            <a:ext cx="54406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3505200" y="3305175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Any Questions?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3505200" y="4333875"/>
            <a:ext cx="5181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British Airways Strategy Team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3505200" y="4857750"/>
            <a:ext cx="5181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www.britishairways.com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/>
          <p:nvPr/>
        </p:nvSpPr>
        <p:spPr>
          <a:xfrm>
            <a:off x="571500" y="23383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571500" y="31099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71500" y="38814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571500" y="3100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71500" y="3100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71500" y="3871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500" y="3871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71500" y="4643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4643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1" name="Google Shape;2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1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1666875" y="24884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http://www.billfrymire.com/gallery/weblarge/world-map-relief-connections-blue-v.jpg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666875" y="27217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www.billfrymire.com</a:t>
            </a:r>
            <a:endParaRPr/>
          </a:p>
        </p:txBody>
      </p:sp>
      <p:pic>
        <p:nvPicPr>
          <p:cNvPr descr="image.png" id="244" name="Google Shape;24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52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1666875" y="32599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https://png.pngtree.com/thumb_back/fw800/background/20251128/pngtree-man-using-smartphone-in-a-modern-airport-business-lounge-with-other-image_20444567.webp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1666875" y="34932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descr="image.png" id="247" name="Google Shape;24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24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1666875" y="40314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https://cdn.x-plane.to/images/01/british-airways-g-neon-a330-900-x-works-mod-for-lr-a330-xp12-kJKmD.jpg?width=1400&amp;auto_optimize=medium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1666875" y="42648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x-plane.to</a:t>
            </a:r>
            <a:endParaRPr/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815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1666875" y="47958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https://media.gettyimages.com/id/1302813215/photo/view-from-the-airplane-window-on-a-beautiful-sunset-above-the-clouds.jpg?s=1024x1024&amp;w=gi&amp;k=20&amp;c=aLnDY4MlsNvN75JXKSxP3oF9ki-MG_LqA7VHEuRMgq8=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1666875" y="52149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www.esseg.eu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